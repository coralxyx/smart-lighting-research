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62"/>
  </p:normalViewPr>
  <p:slideViewPr>
    <p:cSldViewPr snapToGrid="0">
      <p:cViewPr>
        <p:scale>
          <a:sx n="83" d="100"/>
          <a:sy n="83" d="100"/>
        </p:scale>
        <p:origin x="960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/>
          <p:cNvPicPr>
            <a:picLocks noChangeAspect="1"/>
          </p:cNvPicPr>
          <p:nvPr/>
        </p:nvPicPr>
        <p:blipFill>
          <a:blip r:embed="rId1"/>
          <a:srcRect t="12500" b="1250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0" y="0"/>
            <a:ext cx="6858000" cy="6858000"/>
          </a:xfrm>
          <a:prstGeom prst="rect">
            <a:avLst/>
          </a:prstGeom>
          <a:solidFill>
            <a:srgbClr val="111211"/>
          </a:soli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6572250" y="0"/>
            <a:ext cx="2000250" cy="6858000"/>
          </a:xfrm>
          <a:prstGeom prst="rect">
            <a:avLst/>
          </a:prstGeom>
          <a:gradFill>
            <a:gsLst>
              <a:gs pos="0">
                <a:srgbClr val="111211"/>
              </a:gs>
              <a:gs pos="100000">
                <a:srgbClr val="111211">
                  <a:alpha val="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552450" y="590550"/>
            <a:ext cx="2857500" cy="323850"/>
          </a:xfrm>
          <a:prstGeom prst="roundRect">
            <a:avLst>
              <a:gd name="adj" fmla="val 23529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Kano 数据驱动的居家照明方案</a:t>
            </a:r>
            <a:endParaRPr sz="1200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552450" y="1371600"/>
            <a:ext cx="4953000" cy="5905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37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</a:t>
            </a:r>
            <a:endParaRPr sz="3750" b="1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552450" y="2038350"/>
            <a:ext cx="4953000" cy="5905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37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3750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柔光系统</a:t>
            </a:r>
            <a:endParaRPr sz="3750" b="1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590550" y="31242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65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从日常活动到睡眠起居，</a:t>
            </a:r>
            <a:endParaRPr sz="1650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590550" y="3486150"/>
            <a:ext cx="561975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65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以自然漫光、睡前缓降光和夜起路径光，</a:t>
            </a:r>
            <a:endParaRPr sz="1650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590550" y="3848100"/>
            <a:ext cx="561975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65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构建连续、舒适、低刺激的家庭照明体验。</a:t>
            </a:r>
            <a:endParaRPr sz="1650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直线连接符 9"/>
          <p:cNvSpPr>
            <a:spLocks noGrp="1"/>
          </p:cNvSpPr>
          <p:nvPr/>
        </p:nvSpPr>
        <p:spPr>
          <a:xfrm>
            <a:off x="590550" y="4457700"/>
            <a:ext cx="2819400" cy="0"/>
          </a:xfrm>
          <a:prstGeom prst="line">
            <a:avLst/>
          </a:prstGeom>
          <a:ln w="19050">
            <a:solidFill>
              <a:srgbClr val="D8A93F"/>
            </a:solidFill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590550" y="4648200"/>
            <a:ext cx="4381500" cy="3048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5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日常基础照明 / 睡眠与起居</a:t>
            </a:r>
            <a:endParaRPr sz="15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514350" y="64579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自然渐进式柔光系统</a:t>
            </a:r>
            <a:endParaRPr sz="97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1410950" y="641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01</a:t>
            </a:r>
            <a:endParaRPr sz="975" b="0">
              <a:solidFill>
                <a:srgbClr val="F0C8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直线连接符 14"/>
          <p:cNvSpPr>
            <a:spLocks noGrp="1"/>
          </p:cNvSpPr>
          <p:nvPr/>
        </p:nvSpPr>
        <p:spPr>
          <a:xfrm>
            <a:off x="514350" y="6343650"/>
            <a:ext cx="11201400" cy="0"/>
          </a:xfrm>
          <a:prstGeom prst="line">
            <a:avLst/>
          </a:prstGeom>
          <a:ln w="9525">
            <a:solidFill>
              <a:srgbClr val="4A4233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>
            <a:spLocks noGrp="1"/>
          </p:cNvSpPr>
          <p:nvPr/>
        </p:nvSpPr>
        <p:spPr>
          <a:xfrm>
            <a:off x="552450" y="400050"/>
            <a:ext cx="9334500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22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Kano 洞察：舒适基础光是底盘，交互与氛围形成加分项</a:t>
            </a:r>
            <a:endParaRPr sz="2250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552450" y="1238250"/>
            <a:ext cx="5191125" cy="4114800"/>
          </a:xfrm>
          <a:prstGeom prst="roundRect">
            <a:avLst>
              <a:gd name="adj" fmla="val 1852"/>
            </a:avLst>
          </a:prstGeom>
          <a:solidFill>
            <a:srgbClr val="22211D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4" name="圆角矩形 3"/>
          <p:cNvSpPr>
            <a:spLocks noGrp="1"/>
          </p:cNvSpPr>
          <p:nvPr/>
        </p:nvSpPr>
        <p:spPr>
          <a:xfrm>
            <a:off x="6076950" y="1238250"/>
            <a:ext cx="5191125" cy="4114800"/>
          </a:xfrm>
          <a:prstGeom prst="roundRect">
            <a:avLst>
              <a:gd name="adj" fmla="val 1852"/>
            </a:avLst>
          </a:prstGeom>
          <a:solidFill>
            <a:srgbClr val="22211D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5" name="圆角矩形 4"/>
          <p:cNvSpPr>
            <a:spLocks noGrp="1"/>
          </p:cNvSpPr>
          <p:nvPr/>
        </p:nvSpPr>
        <p:spPr>
          <a:xfrm>
            <a:off x="800100" y="14668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2B2619"/>
          </a:solidFill>
          <a:ln w="11430">
            <a:solidFill>
              <a:srgbClr val="F0C86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日常基础照明｜1093 次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00100" y="1943100"/>
            <a:ext cx="276225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5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关键需求与</a:t>
            </a:r>
            <a:r>
              <a:rPr sz="1575" b="1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Kano </a:t>
            </a:r>
            <a:r>
              <a:rPr sz="1575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类型</a:t>
            </a:r>
            <a:endParaRPr sz="1575" b="1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00100" y="2476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照明与色调 O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2457450" y="254317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2457450" y="2543175"/>
            <a:ext cx="914400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4857750" y="246697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40.0%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00100" y="28765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交互功能 I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457450" y="294322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13" name="圆角矩形 12"/>
          <p:cNvSpPr>
            <a:spLocks noGrp="1"/>
          </p:cNvSpPr>
          <p:nvPr/>
        </p:nvSpPr>
        <p:spPr>
          <a:xfrm>
            <a:off x="2457450" y="2943225"/>
            <a:ext cx="281178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4857750" y="28670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12.3%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00100" y="32766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风格设计 A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2457450" y="334327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17" name="圆角矩形 16"/>
          <p:cNvSpPr>
            <a:spLocks noGrp="1"/>
          </p:cNvSpPr>
          <p:nvPr/>
        </p:nvSpPr>
        <p:spPr>
          <a:xfrm>
            <a:off x="2457450" y="3343275"/>
            <a:ext cx="249174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18" name="矩形 17"/>
          <p:cNvSpPr>
            <a:spLocks noGrp="1"/>
          </p:cNvSpPr>
          <p:nvPr/>
        </p:nvSpPr>
        <p:spPr>
          <a:xfrm>
            <a:off x="4857750" y="326707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10.9%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00100" y="36766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形体造型 O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2457450" y="374332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21" name="圆角矩形 20"/>
          <p:cNvSpPr>
            <a:spLocks noGrp="1"/>
          </p:cNvSpPr>
          <p:nvPr/>
        </p:nvSpPr>
        <p:spPr>
          <a:xfrm>
            <a:off x="2457450" y="3743325"/>
            <a:ext cx="224028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22" name="矩形 21"/>
          <p:cNvSpPr>
            <a:spLocks noGrp="1"/>
          </p:cNvSpPr>
          <p:nvPr/>
        </p:nvSpPr>
        <p:spPr>
          <a:xfrm>
            <a:off x="4857750" y="36671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9.8%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00100" y="40767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视觉舒适 O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圆角矩形 23"/>
          <p:cNvSpPr>
            <a:spLocks noGrp="1"/>
          </p:cNvSpPr>
          <p:nvPr/>
        </p:nvSpPr>
        <p:spPr>
          <a:xfrm>
            <a:off x="2457450" y="414337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25" name="圆角矩形 24"/>
          <p:cNvSpPr>
            <a:spLocks noGrp="1"/>
          </p:cNvSpPr>
          <p:nvPr/>
        </p:nvSpPr>
        <p:spPr>
          <a:xfrm>
            <a:off x="2457450" y="4143375"/>
            <a:ext cx="224028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26" name="矩形 25"/>
          <p:cNvSpPr>
            <a:spLocks noGrp="1"/>
          </p:cNvSpPr>
          <p:nvPr/>
        </p:nvSpPr>
        <p:spPr>
          <a:xfrm>
            <a:off x="4857750" y="406717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9.8%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00100" y="464820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425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洞察</a:t>
            </a:r>
            <a:endParaRPr sz="1425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1485900" y="4667250"/>
            <a:ext cx="46101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 </a:t>
            </a:r>
            <a:r>
              <a:rPr sz="1200" b="0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型集中在照明与舒适：基础光必须稳定、均匀、自然</a:t>
            </a:r>
            <a:r>
              <a:rPr sz="1200" b="0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200" b="0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1485900" y="4933950"/>
            <a:ext cx="3429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A </a:t>
            </a:r>
            <a:r>
              <a:rPr sz="1200" b="0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型用于强化墙面、边界与材质层次</a:t>
            </a:r>
            <a:r>
              <a:rPr sz="1200" b="0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200" b="0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6324600" y="1466850"/>
            <a:ext cx="2000250" cy="323850"/>
          </a:xfrm>
          <a:prstGeom prst="roundRect">
            <a:avLst>
              <a:gd name="adj" fmla="val 23529"/>
            </a:avLst>
          </a:prstGeom>
          <a:solidFill>
            <a:srgbClr val="2B2619"/>
          </a:solidFill>
          <a:ln w="11430">
            <a:solidFill>
              <a:srgbClr val="F0C86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睡眠与起居｜433 次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6324600" y="1943100"/>
            <a:ext cx="28194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5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关键需求与</a:t>
            </a:r>
            <a:r>
              <a:rPr sz="1575" b="1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Kano </a:t>
            </a:r>
            <a:r>
              <a:rPr sz="1575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类型</a:t>
            </a:r>
            <a:endParaRPr sz="1575" b="1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6324600" y="24765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照明与色调 O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3" name="圆角矩形 32"/>
          <p:cNvSpPr>
            <a:spLocks noGrp="1"/>
          </p:cNvSpPr>
          <p:nvPr/>
        </p:nvSpPr>
        <p:spPr>
          <a:xfrm>
            <a:off x="7981950" y="254317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34" name="圆角矩形 33"/>
          <p:cNvSpPr>
            <a:spLocks noGrp="1"/>
          </p:cNvSpPr>
          <p:nvPr/>
        </p:nvSpPr>
        <p:spPr>
          <a:xfrm>
            <a:off x="7981950" y="2543175"/>
            <a:ext cx="1289304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10382250" y="246697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56.4%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6324600" y="28765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交互功能 A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7" name="圆角矩形 36"/>
          <p:cNvSpPr>
            <a:spLocks noGrp="1"/>
          </p:cNvSpPr>
          <p:nvPr/>
        </p:nvSpPr>
        <p:spPr>
          <a:xfrm>
            <a:off x="7981950" y="294322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38" name="圆角矩形 37"/>
          <p:cNvSpPr>
            <a:spLocks noGrp="1"/>
          </p:cNvSpPr>
          <p:nvPr/>
        </p:nvSpPr>
        <p:spPr>
          <a:xfrm>
            <a:off x="7981950" y="2943225"/>
            <a:ext cx="491490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10382250" y="28670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21.5%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6324600" y="32766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形体造型 A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1" name="圆角矩形 40"/>
          <p:cNvSpPr>
            <a:spLocks noGrp="1"/>
          </p:cNvSpPr>
          <p:nvPr/>
        </p:nvSpPr>
        <p:spPr>
          <a:xfrm>
            <a:off x="7981950" y="334327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42" name="圆角矩形 41"/>
          <p:cNvSpPr>
            <a:spLocks noGrp="1"/>
          </p:cNvSpPr>
          <p:nvPr/>
        </p:nvSpPr>
        <p:spPr>
          <a:xfrm>
            <a:off x="7981950" y="3343275"/>
            <a:ext cx="109728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10382250" y="326707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4.8%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6324600" y="367665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视觉舒适 O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5" name="圆角矩形 44"/>
          <p:cNvSpPr>
            <a:spLocks noGrp="1"/>
          </p:cNvSpPr>
          <p:nvPr/>
        </p:nvSpPr>
        <p:spPr>
          <a:xfrm>
            <a:off x="7981950" y="374332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46" name="圆角矩形 45"/>
          <p:cNvSpPr>
            <a:spLocks noGrp="1"/>
          </p:cNvSpPr>
          <p:nvPr/>
        </p:nvSpPr>
        <p:spPr>
          <a:xfrm>
            <a:off x="7981950" y="3743325"/>
            <a:ext cx="105156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382250" y="366712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4.6%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6324600" y="4076700"/>
            <a:ext cx="16192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色彩 A</a:t>
            </a:r>
            <a:endParaRPr sz="12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9" name="圆角矩形 48"/>
          <p:cNvSpPr>
            <a:spLocks noGrp="1"/>
          </p:cNvSpPr>
          <p:nvPr/>
        </p:nvSpPr>
        <p:spPr>
          <a:xfrm>
            <a:off x="7981950" y="4143375"/>
            <a:ext cx="2286000" cy="95250"/>
          </a:xfrm>
          <a:prstGeom prst="roundRect">
            <a:avLst>
              <a:gd name="adj" fmla="val 50000"/>
            </a:avLst>
          </a:prstGeom>
          <a:solidFill>
            <a:srgbClr val="3B382F"/>
          </a:solidFill>
          <a:ln w="0">
            <a:noFill/>
          </a:ln>
        </p:spPr>
      </p:sp>
      <p:sp>
        <p:nvSpPr>
          <p:cNvPr id="50" name="圆角矩形 49"/>
          <p:cNvSpPr>
            <a:spLocks noGrp="1"/>
          </p:cNvSpPr>
          <p:nvPr/>
        </p:nvSpPr>
        <p:spPr>
          <a:xfrm>
            <a:off x="7981950" y="4143375"/>
            <a:ext cx="89154" cy="95250"/>
          </a:xfrm>
          <a:prstGeom prst="roundRect">
            <a:avLst>
              <a:gd name="adj" fmla="val 50000"/>
            </a:avLst>
          </a:prstGeom>
          <a:solidFill>
            <a:srgbClr val="F0C86A"/>
          </a:solidFill>
          <a:ln w="0">
            <a:noFill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10382250" y="4067175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3.9%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6324600" y="4648200"/>
            <a:ext cx="666750" cy="247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425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洞察</a:t>
            </a:r>
            <a:endParaRPr sz="1425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7010400" y="4667250"/>
            <a:ext cx="3810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照明与色调占比最高，需降低刺激并转向暖光。</a:t>
            </a:r>
            <a:endParaRPr sz="1200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010400" y="4933950"/>
            <a:ext cx="39052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交互功能为 A 型，适合转译为夜起感应与床头控制。</a:t>
            </a:r>
            <a:endParaRPr sz="1200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5" name="圆角矩形 54"/>
          <p:cNvSpPr>
            <a:spLocks noGrp="1"/>
          </p:cNvSpPr>
          <p:nvPr/>
        </p:nvSpPr>
        <p:spPr>
          <a:xfrm>
            <a:off x="552450" y="5562600"/>
            <a:ext cx="11268075" cy="438150"/>
          </a:xfrm>
          <a:prstGeom prst="roundRect">
            <a:avLst>
              <a:gd name="adj" fmla="val 17391"/>
            </a:avLst>
          </a:prstGeom>
          <a:solidFill>
            <a:srgbClr val="1F1E1A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56" name="矩形 55"/>
          <p:cNvSpPr>
            <a:spLocks noGrp="1"/>
          </p:cNvSpPr>
          <p:nvPr/>
        </p:nvSpPr>
        <p:spPr>
          <a:xfrm>
            <a:off x="800100" y="5676900"/>
            <a:ext cx="14478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1" dirty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Kano </a:t>
            </a:r>
            <a:r>
              <a:rPr sz="1275" b="1" dirty="0" err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转译逻辑</a:t>
            </a:r>
            <a:endParaRPr sz="1275" b="1" dirty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7" name="矩形 56"/>
          <p:cNvSpPr>
            <a:spLocks noGrp="1"/>
          </p:cNvSpPr>
          <p:nvPr/>
        </p:nvSpPr>
        <p:spPr>
          <a:xfrm>
            <a:off x="2247900" y="5676900"/>
            <a:ext cx="81915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7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7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O：优先保证体验底线与一致性｜A：塑造亮点与记忆点｜I：基础可用即可，避免过度投入</a:t>
            </a:r>
            <a:endParaRPr sz="1275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514350" y="64579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自然渐进式柔光系统</a:t>
            </a:r>
            <a:endParaRPr sz="97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9" name="矩形 58"/>
          <p:cNvSpPr>
            <a:spLocks noGrp="1"/>
          </p:cNvSpPr>
          <p:nvPr/>
        </p:nvSpPr>
        <p:spPr>
          <a:xfrm>
            <a:off x="11410950" y="641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02</a:t>
            </a:r>
            <a:endParaRPr sz="975" b="0">
              <a:solidFill>
                <a:srgbClr val="F0C8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0" name="直线连接符 59"/>
          <p:cNvSpPr>
            <a:spLocks noGrp="1"/>
          </p:cNvSpPr>
          <p:nvPr/>
        </p:nvSpPr>
        <p:spPr>
          <a:xfrm>
            <a:off x="514350" y="6343650"/>
            <a:ext cx="11201400" cy="0"/>
          </a:xfrm>
          <a:prstGeom prst="line">
            <a:avLst/>
          </a:prstGeom>
          <a:ln w="9525">
            <a:solidFill>
              <a:srgbClr val="4A4233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/>
          <p:cNvSpPr>
            <a:spLocks noGrp="1"/>
          </p:cNvSpPr>
          <p:nvPr/>
        </p:nvSpPr>
        <p:spPr>
          <a:xfrm>
            <a:off x="552450" y="400050"/>
            <a:ext cx="7239000" cy="4000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240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方案主线：自然渐进式柔光系统</a:t>
            </a:r>
            <a:endParaRPr sz="2400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71500" y="876300"/>
            <a:ext cx="93345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把 Kano 中的 O 型基础体验和 A 型亮点体验，转译为三段连续灯光：日常清晰、睡前放松、夜起安全。</a:t>
            </a:r>
            <a:endParaRPr sz="1350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" name="圆角矩形 2"/>
          <p:cNvSpPr>
            <a:spLocks noGrp="1"/>
          </p:cNvSpPr>
          <p:nvPr/>
        </p:nvSpPr>
        <p:spPr>
          <a:xfrm>
            <a:off x="552450" y="1466850"/>
            <a:ext cx="3143250" cy="3200400"/>
          </a:xfrm>
          <a:prstGeom prst="roundRect">
            <a:avLst>
              <a:gd name="adj" fmla="val 2424"/>
            </a:avLst>
          </a:prstGeom>
          <a:solidFill>
            <a:srgbClr val="23221E"/>
          </a:solidFill>
          <a:ln w="11430">
            <a:solidFill>
              <a:srgbClr val="594A2E"/>
            </a:solidFill>
            <a:prstDash val="solid"/>
          </a:ln>
        </p:spPr>
      </p:sp>
      <p:sp>
        <p:nvSpPr>
          <p:cNvPr id="4" name="椭圆 3"/>
          <p:cNvSpPr>
            <a:spLocks noGrp="1"/>
          </p:cNvSpPr>
          <p:nvPr/>
        </p:nvSpPr>
        <p:spPr>
          <a:xfrm>
            <a:off x="819150" y="1714500"/>
            <a:ext cx="666750" cy="666750"/>
          </a:xfrm>
          <a:prstGeom prst="ellipse">
            <a:avLst/>
          </a:prstGeom>
          <a:gradFill>
            <a:gsLst>
              <a:gs pos="0">
                <a:srgbClr val="FFE6A7"/>
              </a:gs>
              <a:gs pos="100000">
                <a:srgbClr val="594014"/>
              </a:gs>
            </a:gsLst>
            <a:path path="shape"/>
          </a:gradFill>
          <a:ln w="0">
            <a:noFill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819150" y="25717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8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自然漫光之家</a:t>
            </a:r>
            <a:endParaRPr sz="18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819150" y="29908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回应照明与色调、视觉舒适的 O 型需求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819150" y="32575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以天花漫射光和边界柔光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819150" y="35242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提供舒适、均匀、自然的基础亮度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819150" y="421005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主光 3500K–4000K｜150–300lx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4429125" y="1466850"/>
            <a:ext cx="3143250" cy="3200400"/>
          </a:xfrm>
          <a:prstGeom prst="roundRect">
            <a:avLst>
              <a:gd name="adj" fmla="val 2424"/>
            </a:avLst>
          </a:prstGeom>
          <a:solidFill>
            <a:srgbClr val="23221E"/>
          </a:solidFill>
          <a:ln w="11430">
            <a:solidFill>
              <a:srgbClr val="594A2E"/>
            </a:solidFill>
            <a:prstDash val="solid"/>
          </a:ln>
        </p:spPr>
      </p:sp>
      <p:sp>
        <p:nvSpPr>
          <p:cNvPr id="11" name="椭圆 10"/>
          <p:cNvSpPr>
            <a:spLocks noGrp="1"/>
          </p:cNvSpPr>
          <p:nvPr/>
        </p:nvSpPr>
        <p:spPr>
          <a:xfrm>
            <a:off x="4695825" y="1714500"/>
            <a:ext cx="666750" cy="666750"/>
          </a:xfrm>
          <a:prstGeom prst="ellipse">
            <a:avLst/>
          </a:prstGeom>
          <a:gradFill>
            <a:gsLst>
              <a:gs pos="0">
                <a:srgbClr val="FFE6A7"/>
              </a:gs>
              <a:gs pos="100000">
                <a:srgbClr val="594014"/>
              </a:gs>
            </a:gsLst>
            <a:path path="shape"/>
          </a:gradFill>
          <a:ln w="0">
            <a:noFill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4695825" y="25717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8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睡前缓降光</a:t>
            </a:r>
            <a:endParaRPr sz="18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4695825" y="29908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回应低刺激、暖光、睡前放松诉求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4695825" y="32575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主光逐步退出，床头暖光接管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4695825" y="35242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让空间从活动过渡到睡眠状态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4695825" y="421005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床头暖光 2700K｜≤30lx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圆角矩形 16"/>
          <p:cNvSpPr>
            <a:spLocks noGrp="1"/>
          </p:cNvSpPr>
          <p:nvPr/>
        </p:nvSpPr>
        <p:spPr>
          <a:xfrm>
            <a:off x="8305800" y="1466850"/>
            <a:ext cx="3143250" cy="3200400"/>
          </a:xfrm>
          <a:prstGeom prst="roundRect">
            <a:avLst>
              <a:gd name="adj" fmla="val 2424"/>
            </a:avLst>
          </a:prstGeom>
          <a:solidFill>
            <a:srgbClr val="23221E"/>
          </a:solidFill>
          <a:ln w="11430">
            <a:solidFill>
              <a:srgbClr val="594A2E"/>
            </a:solidFill>
            <a:prstDash val="solid"/>
          </a:ln>
        </p:spPr>
      </p:sp>
      <p:sp>
        <p:nvSpPr>
          <p:cNvPr id="18" name="椭圆 17"/>
          <p:cNvSpPr>
            <a:spLocks noGrp="1"/>
          </p:cNvSpPr>
          <p:nvPr/>
        </p:nvSpPr>
        <p:spPr>
          <a:xfrm>
            <a:off x="8572500" y="1714500"/>
            <a:ext cx="666750" cy="666750"/>
          </a:xfrm>
          <a:prstGeom prst="ellipse">
            <a:avLst/>
          </a:prstGeom>
          <a:gradFill>
            <a:gsLst>
              <a:gs pos="0">
                <a:srgbClr val="FFE6A7"/>
              </a:gs>
              <a:gs pos="100000">
                <a:srgbClr val="594014"/>
              </a:gs>
            </a:gsLst>
            <a:path path="shape"/>
          </a:gradFill>
          <a:ln w="0">
            <a:noFill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8572500" y="2571750"/>
            <a:ext cx="2476500" cy="3429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8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875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安心夜起路径</a:t>
            </a:r>
            <a:endParaRPr sz="1875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8572500" y="29908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回应交互功能 A 型亮点需求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8572500" y="32575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低位感应光只照亮地面和脚边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8572500" y="3524250"/>
            <a:ext cx="268605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避免直射眼睛，保留睡意</a:t>
            </a:r>
            <a:endParaRPr sz="112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8572500" y="4210050"/>
            <a:ext cx="2571750" cy="3619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路径光 2200K–2700K｜5–15lx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4" name="直线连接符 23"/>
          <p:cNvSpPr>
            <a:spLocks noGrp="1"/>
          </p:cNvSpPr>
          <p:nvPr/>
        </p:nvSpPr>
        <p:spPr>
          <a:xfrm>
            <a:off x="3657600" y="3067050"/>
            <a:ext cx="590550" cy="0"/>
          </a:xfrm>
          <a:prstGeom prst="line">
            <a:avLst/>
          </a:prstGeom>
          <a:ln w="28575">
            <a:solidFill>
              <a:srgbClr val="D8A93F"/>
            </a:solidFill>
            <a:prstDash val="solid"/>
          </a:ln>
        </p:spPr>
      </p:sp>
      <p:sp>
        <p:nvSpPr>
          <p:cNvPr id="25" name="直线连接符 24"/>
          <p:cNvSpPr>
            <a:spLocks noGrp="1"/>
          </p:cNvSpPr>
          <p:nvPr/>
        </p:nvSpPr>
        <p:spPr>
          <a:xfrm>
            <a:off x="7534275" y="3067050"/>
            <a:ext cx="600075" cy="0"/>
          </a:xfrm>
          <a:prstGeom prst="line">
            <a:avLst/>
          </a:prstGeom>
          <a:ln w="28575">
            <a:solidFill>
              <a:srgbClr val="D8A93F"/>
            </a:solidFill>
            <a:prstDash val="solid"/>
          </a:ln>
        </p:spPr>
      </p:sp>
      <p:sp>
        <p:nvSpPr>
          <p:cNvPr id="26" name="圆角矩形 25"/>
          <p:cNvSpPr>
            <a:spLocks noGrp="1"/>
          </p:cNvSpPr>
          <p:nvPr/>
        </p:nvSpPr>
        <p:spPr>
          <a:xfrm>
            <a:off x="552450" y="5334000"/>
            <a:ext cx="11268075" cy="533400"/>
          </a:xfrm>
          <a:prstGeom prst="roundRect">
            <a:avLst>
              <a:gd name="adj" fmla="val 14286"/>
            </a:avLst>
          </a:prstGeom>
          <a:solidFill>
            <a:srgbClr val="1F1E1A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27" name="圆角矩形 26"/>
          <p:cNvSpPr>
            <a:spLocks noGrp="1"/>
          </p:cNvSpPr>
          <p:nvPr/>
        </p:nvSpPr>
        <p:spPr>
          <a:xfrm>
            <a:off x="781050" y="5457825"/>
            <a:ext cx="1143000" cy="323850"/>
          </a:xfrm>
          <a:prstGeom prst="roundRect">
            <a:avLst>
              <a:gd name="adj" fmla="val 23529"/>
            </a:avLst>
          </a:prstGeom>
          <a:solidFill>
            <a:srgbClr val="2B2619"/>
          </a:solidFill>
          <a:ln w="11430">
            <a:solidFill>
              <a:srgbClr val="F0C86A"/>
            </a:solidFill>
            <a:prstDash val="solid"/>
          </a:ln>
        </p:spPr>
        <p:txBody>
          <a:bodyPr anchor="ctr"/>
          <a:lstStyle/>
          <a:p>
            <a:pPr algn="ctr">
              <a:def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设计原则</a:t>
            </a:r>
            <a:endParaRPr sz="120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133600" y="5467350"/>
            <a:ext cx="83820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50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0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明亮但不刺眼｜暖而不商业化｜低位路径不照眼｜分区调光匹配真实居家动作</a:t>
            </a:r>
            <a:endParaRPr sz="1500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514350" y="64579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自然渐进式柔光系统</a:t>
            </a:r>
            <a:endParaRPr sz="97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11410950" y="641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03</a:t>
            </a:r>
            <a:endParaRPr sz="975" b="0">
              <a:solidFill>
                <a:srgbClr val="F0C8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31" name="直线连接符 30"/>
          <p:cNvSpPr>
            <a:spLocks noGrp="1"/>
          </p:cNvSpPr>
          <p:nvPr/>
        </p:nvSpPr>
        <p:spPr>
          <a:xfrm>
            <a:off x="514350" y="6343650"/>
            <a:ext cx="11201400" cy="0"/>
          </a:xfrm>
          <a:prstGeom prst="line">
            <a:avLst/>
          </a:prstGeom>
          <a:ln w="9525">
            <a:solidFill>
              <a:srgbClr val="4A4233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514350" y="400050"/>
            <a:ext cx="6858000" cy="381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22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 1｜日常基础照明：客厅 / 起居空间</a:t>
            </a:r>
            <a:endParaRPr sz="2250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838200"/>
            <a:ext cx="657225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目标：柔和、均匀、自然，满足日常活动与视觉舒适。</a:t>
            </a:r>
            <a:endParaRPr sz="1350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6" r="56"/>
          <a:stretch>
            <a:fillRect/>
          </a:stretch>
        </p:blipFill>
        <p:spPr>
          <a:xfrm>
            <a:off x="514350" y="1285875"/>
            <a:ext cx="5619750" cy="421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257" r="2257"/>
          <a:stretch>
            <a:fillRect/>
          </a:stretch>
        </p:blipFill>
        <p:spPr>
          <a:xfrm>
            <a:off x="6362700" y="1285875"/>
            <a:ext cx="5372100" cy="4219575"/>
          </a:xfrm>
          <a:prstGeom prst="rect">
            <a:avLst/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14350" y="5667375"/>
            <a:ext cx="11239500" cy="495300"/>
          </a:xfrm>
          <a:prstGeom prst="roundRect">
            <a:avLst>
              <a:gd name="adj" fmla="val 15385"/>
            </a:avLst>
          </a:prstGeom>
          <a:solidFill>
            <a:srgbClr val="22211D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5781675"/>
            <a:ext cx="1381125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漫光主照明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381250" y="5781675"/>
            <a:ext cx="1190625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边界柔光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771900" y="5781675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电视墙洗墙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305425" y="5781675"/>
            <a:ext cx="1333500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柜体功能光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991349" y="5810250"/>
            <a:ext cx="4549009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35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 dirty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3000K–4000K｜150–300lx｜分区调光 10%–100%</a:t>
            </a:r>
            <a:endParaRPr sz="1350" b="1" dirty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4350" y="64579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自然渐进式柔光系统</a:t>
            </a:r>
            <a:endParaRPr sz="97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10950" y="641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04</a:t>
            </a:r>
            <a:endParaRPr sz="975" b="0">
              <a:solidFill>
                <a:srgbClr val="F0C8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直线连接符 12"/>
          <p:cNvSpPr>
            <a:spLocks noGrp="1"/>
          </p:cNvSpPr>
          <p:nvPr/>
        </p:nvSpPr>
        <p:spPr>
          <a:xfrm>
            <a:off x="514350" y="6343650"/>
            <a:ext cx="11201400" cy="0"/>
          </a:xfrm>
          <a:prstGeom prst="line">
            <a:avLst/>
          </a:prstGeom>
          <a:ln w="9525">
            <a:solidFill>
              <a:srgbClr val="4A4233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>
            <a:spLocks noGrp="1"/>
          </p:cNvSpPr>
          <p:nvPr/>
        </p:nvSpPr>
        <p:spPr>
          <a:xfrm>
            <a:off x="514350" y="400050"/>
            <a:ext cx="6477000" cy="381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22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2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图 2｜睡眠与起居：卧室</a:t>
            </a:r>
            <a:endParaRPr sz="2250" b="1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533400" y="838200"/>
            <a:ext cx="68580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350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目标：低刺激暖光、睡前放松、夜起便利，不打断睡意。</a:t>
            </a:r>
            <a:endParaRPr sz="1350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rcRect l="56" r="56"/>
          <a:stretch>
            <a:fillRect/>
          </a:stretch>
        </p:blipFill>
        <p:spPr>
          <a:xfrm>
            <a:off x="514350" y="1285875"/>
            <a:ext cx="5619750" cy="421957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rcRect l="2257" r="2257"/>
          <a:stretch>
            <a:fillRect/>
          </a:stretch>
        </p:blipFill>
        <p:spPr>
          <a:xfrm>
            <a:off x="6362700" y="1285875"/>
            <a:ext cx="5372100" cy="4219575"/>
          </a:xfrm>
          <a:prstGeom prst="rect">
            <a:avLst/>
          </a:prstGeom>
        </p:spPr>
      </p:pic>
      <p:sp>
        <p:nvSpPr>
          <p:cNvPr id="5" name="圆角矩形 4"/>
          <p:cNvSpPr>
            <a:spLocks noGrp="1"/>
          </p:cNvSpPr>
          <p:nvPr/>
        </p:nvSpPr>
        <p:spPr>
          <a:xfrm>
            <a:off x="514350" y="5667375"/>
            <a:ext cx="11239500" cy="495300"/>
          </a:xfrm>
          <a:prstGeom prst="roundRect">
            <a:avLst>
              <a:gd name="adj" fmla="val 15385"/>
            </a:avLst>
          </a:prstGeom>
          <a:solidFill>
            <a:srgbClr val="22211D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800100" y="578167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睡前暖光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2238375" y="578167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床头阅读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3676650" y="578167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床底感应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5114925" y="5781675"/>
            <a:ext cx="1238250" cy="285750"/>
          </a:xfrm>
          <a:prstGeom prst="roundRect">
            <a:avLst>
              <a:gd name="adj" fmla="val 26667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125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踢脚路径</a:t>
            </a:r>
            <a:endParaRPr sz="1125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6705600" y="5810250"/>
            <a:ext cx="4191000" cy="2667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35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350" b="1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2200K–3000K｜≤30lx 入睡｜5–15lx 夜起路径</a:t>
            </a:r>
            <a:endParaRPr sz="1350" b="1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14350" y="64579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自然渐进式柔光系统</a:t>
            </a:r>
            <a:endParaRPr sz="97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1410950" y="641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05</a:t>
            </a:r>
            <a:endParaRPr sz="975" b="0">
              <a:solidFill>
                <a:srgbClr val="F0C8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直线连接符 12"/>
          <p:cNvSpPr>
            <a:spLocks noGrp="1"/>
          </p:cNvSpPr>
          <p:nvPr/>
        </p:nvSpPr>
        <p:spPr>
          <a:xfrm>
            <a:off x="514350" y="6343650"/>
            <a:ext cx="11201400" cy="0"/>
          </a:xfrm>
          <a:prstGeom prst="line">
            <a:avLst/>
          </a:prstGeom>
          <a:ln w="9525">
            <a:solidFill>
              <a:srgbClr val="4A4233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18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rcRect l="21354" r="21354"/>
          <a:stretch>
            <a:fillRect/>
          </a:stretch>
        </p:blipFill>
        <p:spPr>
          <a:xfrm>
            <a:off x="6953250" y="0"/>
            <a:ext cx="5238750" cy="6858000"/>
          </a:xfrm>
          <a:prstGeom prst="rect">
            <a:avLst/>
          </a:prstGeom>
        </p:spPr>
      </p:pic>
      <p:sp>
        <p:nvSpPr>
          <p:cNvPr id="2" name="矩形 1"/>
          <p:cNvSpPr>
            <a:spLocks noGrp="1"/>
          </p:cNvSpPr>
          <p:nvPr/>
        </p:nvSpPr>
        <p:spPr>
          <a:xfrm>
            <a:off x="6572250" y="0"/>
            <a:ext cx="5619750" cy="6858000"/>
          </a:xfrm>
          <a:prstGeom prst="rect">
            <a:avLst/>
          </a:prstGeom>
          <a:gradFill>
            <a:gsLst>
              <a:gs pos="0">
                <a:srgbClr val="171818"/>
              </a:gs>
              <a:gs pos="45000">
                <a:srgbClr val="171818">
                  <a:alpha val="80000"/>
                </a:srgbClr>
              </a:gs>
              <a:gs pos="100000">
                <a:srgbClr val="171818">
                  <a:alpha val="0"/>
                </a:srgbClr>
              </a:gs>
            </a:gsLst>
            <a:lin ang="0"/>
          </a:gradFill>
          <a:ln w="0">
            <a:noFill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552450" y="495300"/>
            <a:ext cx="2476500" cy="3810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240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2400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结论</a:t>
            </a:r>
            <a:endParaRPr sz="2400" b="1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590550" y="1009650"/>
            <a:ext cx="6477000" cy="6286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lnSpc>
                <a:spcPct val="12500000"/>
              </a:lnSpc>
              <a:buNone/>
              <a:defRPr sz="157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575" b="0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以</a:t>
            </a:r>
            <a:r>
              <a:rPr sz="1575" b="0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 Kano </a:t>
            </a:r>
            <a:r>
              <a:rPr sz="1575" b="0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高关注项为依据，方案不追求装饰化灯效，而是把舒适、自然、便利转化为可落地的居家照明层级</a:t>
            </a:r>
            <a:r>
              <a:rPr sz="1575" b="0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575" b="0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552450" y="2000250"/>
            <a:ext cx="6191250" cy="2647950"/>
          </a:xfrm>
          <a:prstGeom prst="roundRect">
            <a:avLst>
              <a:gd name="adj" fmla="val 2878"/>
            </a:avLst>
          </a:prstGeom>
          <a:solidFill>
            <a:srgbClr val="22211D"/>
          </a:solidFill>
          <a:ln w="9525">
            <a:solidFill>
              <a:srgbClr val="4B4230"/>
            </a:solidFill>
            <a:prstDash val="solid"/>
          </a:ln>
        </p:spPr>
      </p:sp>
      <p:sp>
        <p:nvSpPr>
          <p:cNvPr id="6" name="圆角矩形 5"/>
          <p:cNvSpPr>
            <a:spLocks noGrp="1"/>
          </p:cNvSpPr>
          <p:nvPr/>
        </p:nvSpPr>
        <p:spPr>
          <a:xfrm>
            <a:off x="704850" y="2343150"/>
            <a:ext cx="1381125" cy="304800"/>
          </a:xfrm>
          <a:prstGeom prst="roundRect">
            <a:avLst>
              <a:gd name="adj" fmla="val 25000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日常基础</a:t>
            </a:r>
            <a:endParaRPr sz="1200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2343150" y="237172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漫光主照明 + 边界柔光，保证均匀基础亮度。</a:t>
            </a:r>
            <a:endParaRPr sz="1425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704850" y="2914650"/>
            <a:ext cx="1381125" cy="304800"/>
          </a:xfrm>
          <a:prstGeom prst="roundRect">
            <a:avLst>
              <a:gd name="adj" fmla="val 25000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视觉舒适</a:t>
            </a:r>
            <a:endParaRPr sz="1200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2343150" y="294322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电视墙洗墙降低明暗反差，减少刺眼感。</a:t>
            </a:r>
            <a:endParaRPr sz="1425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0" name="圆角矩形 9"/>
          <p:cNvSpPr>
            <a:spLocks noGrp="1"/>
          </p:cNvSpPr>
          <p:nvPr/>
        </p:nvSpPr>
        <p:spPr>
          <a:xfrm>
            <a:off x="704850" y="3486150"/>
            <a:ext cx="1381125" cy="304800"/>
          </a:xfrm>
          <a:prstGeom prst="roundRect">
            <a:avLst>
              <a:gd name="adj" fmla="val 25000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睡前放松</a:t>
            </a:r>
            <a:endParaRPr sz="1200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2343150" y="351472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床头暖光低照度接管，主光逐步退出。</a:t>
            </a:r>
            <a:endParaRPr sz="1425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704850" y="4057650"/>
            <a:ext cx="1381125" cy="304800"/>
          </a:xfrm>
          <a:prstGeom prst="roundRect">
            <a:avLst>
              <a:gd name="adj" fmla="val 25000"/>
            </a:avLst>
          </a:prstGeom>
          <a:solidFill>
            <a:srgbClr val="24231F"/>
          </a:solidFill>
          <a:ln w="13335">
            <a:solidFill>
              <a:srgbClr val="D8A93F"/>
            </a:solidFill>
            <a:prstDash val="solid"/>
          </a:ln>
        </p:spPr>
        <p:txBody>
          <a:bodyPr anchor="ctr"/>
          <a:lstStyle/>
          <a:p>
            <a:pPr algn="ctr">
              <a:def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200" b="0">
                <a:solidFill>
                  <a:srgbClr val="FFE3A0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夜起便利</a:t>
            </a:r>
            <a:endParaRPr sz="1200" b="0">
              <a:solidFill>
                <a:srgbClr val="FFE3A0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343150" y="4086225"/>
            <a:ext cx="5905500" cy="28575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425" b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床底与踢脚路径光只照地面，不照眼睛。</a:t>
            </a:r>
            <a:endParaRPr sz="1425" b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4" name="直线连接符 13"/>
          <p:cNvSpPr>
            <a:spLocks noGrp="1"/>
          </p:cNvSpPr>
          <p:nvPr/>
        </p:nvSpPr>
        <p:spPr>
          <a:xfrm>
            <a:off x="704850" y="5000625"/>
            <a:ext cx="4914900" cy="0"/>
          </a:xfrm>
          <a:prstGeom prst="line">
            <a:avLst/>
          </a:prstGeom>
          <a:ln w="19050">
            <a:solidFill>
              <a:srgbClr val="D8A93F"/>
            </a:solidFill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04850" y="5581650"/>
            <a:ext cx="5619750" cy="5334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lnSpc>
                <a:spcPct val="11500000"/>
              </a:lnSpc>
              <a:buNone/>
              <a:defRPr sz="1650" b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1650" b="1" dirty="0" err="1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形成一套从客厅日常活动到卧室睡眠起居的连续柔光体验，适合真实家庭长期使用</a:t>
            </a:r>
            <a:r>
              <a:rPr sz="1650" b="1" dirty="0">
                <a:solidFill>
                  <a:srgbClr val="F6F0E1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。</a:t>
            </a:r>
            <a:endParaRPr sz="1650" b="1" dirty="0">
              <a:solidFill>
                <a:srgbClr val="F6F0E1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514350" y="6457950"/>
            <a:ext cx="3048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l">
              <a:def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BEB6A3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自然渐进式柔光系统</a:t>
            </a:r>
            <a:endParaRPr sz="975" b="0">
              <a:solidFill>
                <a:srgbClr val="BEB6A3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1410950" y="6419850"/>
            <a:ext cx="381000" cy="228600"/>
          </a:xfrm>
          <a:prstGeom prst="rect">
            <a:avLst/>
          </a:prstGeom>
          <a:noFill/>
          <a:ln w="0">
            <a:noFill/>
          </a:ln>
        </p:spPr>
        <p:txBody>
          <a:bodyPr anchor="t"/>
          <a:lstStyle/>
          <a:p>
            <a:pPr algn="r">
              <a:def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defRPr>
            </a:pPr>
            <a:r>
              <a:rPr sz="975" b="0">
                <a:solidFill>
                  <a:srgbClr val="F0C86A"/>
                </a:solidFill>
                <a:latin typeface="PingFang SC" panose="020B0400000000000000" charset="-122"/>
                <a:ea typeface="PingFang SC" panose="020B0400000000000000" charset="-122"/>
                <a:cs typeface="PingFang SC" panose="020B0400000000000000" charset="-122"/>
              </a:rPr>
              <a:t>06</a:t>
            </a:r>
            <a:endParaRPr sz="975" b="0">
              <a:solidFill>
                <a:srgbClr val="F0C86A"/>
              </a:solidFill>
              <a:latin typeface="PingFang SC" panose="020B0400000000000000" charset="-122"/>
              <a:ea typeface="PingFang SC" panose="020B0400000000000000" charset="-122"/>
              <a:cs typeface="PingFang SC" panose="020B0400000000000000" charset="-122"/>
            </a:endParaRPr>
          </a:p>
        </p:txBody>
      </p:sp>
      <p:sp>
        <p:nvSpPr>
          <p:cNvPr id="19" name="直线连接符 18"/>
          <p:cNvSpPr>
            <a:spLocks noGrp="1"/>
          </p:cNvSpPr>
          <p:nvPr/>
        </p:nvSpPr>
        <p:spPr>
          <a:xfrm>
            <a:off x="514350" y="6343650"/>
            <a:ext cx="11201400" cy="0"/>
          </a:xfrm>
          <a:prstGeom prst="line">
            <a:avLst/>
          </a:prstGeom>
          <a:ln w="9525">
            <a:solidFill>
              <a:srgbClr val="4A4233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1150</Words>
  <Application>WPS 演示</Application>
  <PresentationFormat>宽屏</PresentationFormat>
  <Paragraphs>192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宋体</vt:lpstr>
      <vt:lpstr>Wingdings</vt:lpstr>
      <vt:lpstr>PingFang SC</vt:lpstr>
      <vt:lpstr>微软雅黑</vt:lpstr>
      <vt:lpstr>汉仪旗黑</vt:lpstr>
      <vt:lpstr>宋体</vt:lpstr>
      <vt:lpstr>Arial Unicode MS</vt:lpstr>
      <vt:lpstr>汉仪书宋二KW</vt:lpstr>
      <vt:lpstr>Calibri</vt:lpstr>
      <vt:lpstr>Helvetica Neue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027</cp:lastModifiedBy>
  <cp:revision>2</cp:revision>
  <dcterms:created xsi:type="dcterms:W3CDTF">2026-06-07T15:36:26Z</dcterms:created>
  <dcterms:modified xsi:type="dcterms:W3CDTF">2026-06-07T15:36:26Z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14D9455088B6CA9AFA8F256AB27BCD01_42</vt:lpwstr>
  </property>
  <property fmtid="{D5CDD505-2E9C-101B-9397-08002B2CF9AE}" pid="3" name="KSOProductBuildVer">
    <vt:lpwstr>2052-12.1.25895.25895</vt:lpwstr>
  </property>
</Properties>
</file>